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Lst>
  <p:notesMasterIdLst>
    <p:notesMasterId r:id="rId21"/>
  </p:notesMasterIdLst>
  <p:handoutMasterIdLst>
    <p:handoutMasterId r:id="rId22"/>
  </p:handoutMasterIdLst>
  <p:sldIdLst>
    <p:sldId id="256" r:id="rId4"/>
    <p:sldId id="257" r:id="rId5"/>
    <p:sldId id="264" r:id="rId6"/>
    <p:sldId id="258" r:id="rId7"/>
    <p:sldId id="260" r:id="rId8"/>
    <p:sldId id="265" r:id="rId9"/>
    <p:sldId id="266" r:id="rId10"/>
    <p:sldId id="261" r:id="rId11"/>
    <p:sldId id="270" r:id="rId12"/>
    <p:sldId id="268" r:id="rId13"/>
    <p:sldId id="262" r:id="rId14"/>
    <p:sldId id="263" r:id="rId15"/>
    <p:sldId id="271" r:id="rId16"/>
    <p:sldId id="281" r:id="rId17"/>
    <p:sldId id="277" r:id="rId18"/>
    <p:sldId id="279" r:id="rId19"/>
    <p:sldId id="280" r:id="rId20"/>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88"/>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handoutMaster" Target="handoutMasters/handoutMaster1.xml"/><Relationship Id="rId21" Type="http://schemas.openxmlformats.org/officeDocument/2006/relationships/notesMaster" Target="notesMasters/notesMaster1.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sym typeface="+mn-ea"/>
              </a:rPr>
              <a:t>Click to edit Master title style</a:t>
            </a:r>
            <a:endParaRPr lang="zh-CN" altLang="en-US" dirty="0">
              <a:sym typeface="+mn-ea"/>
            </a:endParaRPr>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Click to edit Master subtitle style</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3600" b="1">
                <a:ln/>
                <a:solidFill>
                  <a:schemeClr val="tx1"/>
                </a:solidFill>
                <a:effectLst/>
                <a:latin typeface="Times New Roman" panose="02020603050405020304" charset="0"/>
                <a:cs typeface="Times New Roman" panose="02020603050405020304" charset="0"/>
              </a:defRPr>
            </a:lvl1pPr>
          </a:lstStyle>
          <a:p>
            <a:r>
              <a:rPr lang="zh-CN" altLang="en-US" dirty="0"/>
              <a:t>Click to edit Master title style</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latin typeface="Times New Roman" panose="02020603050405020304" charset="0"/>
                <a:cs typeface="Times New Roman" panose="02020603050405020304" charset="0"/>
              </a:defRPr>
            </a:lvl1pPr>
            <a:lvl2pPr>
              <a:defRPr sz="2400">
                <a:solidFill>
                  <a:schemeClr val="tx1">
                    <a:lumMod val="75000"/>
                    <a:lumOff val="25000"/>
                  </a:schemeClr>
                </a:solidFill>
                <a:latin typeface="Times New Roman" panose="02020603050405020304" charset="0"/>
                <a:cs typeface="Times New Roman" panose="02020603050405020304" charset="0"/>
              </a:defRPr>
            </a:lvl2pPr>
            <a:lvl3pPr>
              <a:defRPr sz="2000">
                <a:solidFill>
                  <a:schemeClr val="tx1">
                    <a:lumMod val="75000"/>
                    <a:lumOff val="25000"/>
                  </a:schemeClr>
                </a:solidFill>
                <a:latin typeface="Times New Roman" panose="02020603050405020304" charset="0"/>
                <a:cs typeface="Times New Roman" panose="02020603050405020304" charset="0"/>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sndAc>
          <p:endSnd/>
        </p:sndAc>
      </p:transition>
    </mc:Choice>
    <mc:Fallback>
      <p:transition>
        <p:sndAc>
          <p:endSnd/>
        </p:sndAc>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0945"/>
            <a:ext cx="9848088" cy="811530"/>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Click to edit Master title style</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sym typeface="+mn-ea"/>
              </a:rPr>
              <a:t>Click to edit Master text styles</a:t>
            </a:r>
            <a:endParaRPr lang="zh-CN" altLang="en-US" dirty="0">
              <a:sym typeface="+mn-ea"/>
            </a:endParaRPr>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Click to edit Master title style</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Click to edit Master title style</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sym typeface="+mn-ea"/>
              </a:rPr>
              <a:t>Click to edit Master text styles</a:t>
            </a:r>
            <a:endParaRPr lang="zh-CN" altLang="en-US" dirty="0">
              <a:sym typeface="+mn-ea"/>
            </a:endParaRPr>
          </a:p>
        </p:txBody>
      </p:sp>
      <p:sp>
        <p:nvSpPr>
          <p:cNvPr id="4" name="内容占位符 3"/>
          <p:cNvSpPr>
            <a:spLocks noGrp="1"/>
          </p:cNvSpPr>
          <p:nvPr>
            <p:ph sz="half" idx="2"/>
          </p:nvPr>
        </p:nvSpPr>
        <p:spPr>
          <a:xfrm>
            <a:off x="839788" y="2615609"/>
            <a:ext cx="5157787" cy="3574054"/>
          </a:xfrm>
        </p:spPr>
        <p:txBody>
          <a:body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sym typeface="+mn-ea"/>
              </a:rPr>
              <a:t>Click to edit Master text styles</a:t>
            </a:r>
            <a:endParaRPr lang="zh-CN" altLang="en-US" dirty="0">
              <a:sym typeface="+mn-ea"/>
            </a:endParaRP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Click to edit Master title style</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标题 1"/>
          <p:cNvSpPr>
            <a:spLocks noGrp="1"/>
          </p:cNvSpPr>
          <p:nvPr>
            <p:ph type="title"/>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sym typeface="+mn-ea"/>
              </a:rPr>
              <a:t>Click to edit Master title style</a:t>
            </a:r>
            <a:endParaRPr lang="zh-CN" altLang="en-US" dirty="0">
              <a:sym typeface="+mn-ea"/>
            </a:endParaRP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Click to edit Master text styles</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cxnSp>
        <p:nvCxnSpPr>
          <p:cNvPr id="8" name="直接连接符 7" hidden="1"/>
          <p:cNvCxnSpPr/>
          <p:nvPr userDrawn="1"/>
        </p:nvCxnSpPr>
        <p:spPr>
          <a:xfrm>
            <a:off x="742950" y="434340"/>
            <a:ext cx="0" cy="139128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Click to edit Master title style</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sym typeface="+mn-ea"/>
              </a:rPr>
              <a:t>Click to edit Master title style</a:t>
            </a:r>
            <a:endParaRPr lang="zh-CN" altLang="en-US" dirty="0">
              <a:sym typeface="+mn-ea"/>
            </a:endParaRPr>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Click to edit Master subtitle style</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Click to edit Master title style</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0945"/>
            <a:ext cx="9848088" cy="811530"/>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Click to edit Master title style</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sym typeface="+mn-ea"/>
              </a:rPr>
              <a:t>Click to edit Master text styles</a:t>
            </a:r>
            <a:endParaRPr lang="zh-CN" altLang="en-US" dirty="0">
              <a:sym typeface="+mn-ea"/>
            </a:endParaRPr>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Click to edit Master title style</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Click to edit Master title style</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sym typeface="+mn-ea"/>
              </a:rPr>
              <a:t>Click to edit Master text styles</a:t>
            </a:r>
            <a:endParaRPr lang="zh-CN" altLang="en-US" dirty="0">
              <a:sym typeface="+mn-ea"/>
            </a:endParaRPr>
          </a:p>
        </p:txBody>
      </p:sp>
      <p:sp>
        <p:nvSpPr>
          <p:cNvPr id="4" name="内容占位符 3"/>
          <p:cNvSpPr>
            <a:spLocks noGrp="1"/>
          </p:cNvSpPr>
          <p:nvPr>
            <p:ph sz="half" idx="2"/>
          </p:nvPr>
        </p:nvSpPr>
        <p:spPr>
          <a:xfrm>
            <a:off x="839788" y="2615609"/>
            <a:ext cx="5157787" cy="3574054"/>
          </a:xfrm>
        </p:spPr>
        <p:txBody>
          <a:body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sym typeface="+mn-ea"/>
              </a:rPr>
              <a:t>Click to edit Master text styles</a:t>
            </a:r>
            <a:endParaRPr lang="zh-CN" altLang="en-US" dirty="0">
              <a:sym typeface="+mn-ea"/>
            </a:endParaRP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Click to edit Master title style</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标题 1"/>
          <p:cNvSpPr>
            <a:spLocks noGrp="1"/>
          </p:cNvSpPr>
          <p:nvPr>
            <p:ph type="title"/>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sym typeface="+mn-ea"/>
              </a:rPr>
              <a:t>Click to edit Master title style</a:t>
            </a:r>
            <a:endParaRPr lang="zh-CN" altLang="en-US" dirty="0">
              <a:sym typeface="+mn-ea"/>
            </a:endParaRP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Click to edit Master text styles</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cxnSp>
        <p:nvCxnSpPr>
          <p:cNvPr id="8" name="直接连接符 7" hidden="1"/>
          <p:cNvCxnSpPr/>
          <p:nvPr/>
        </p:nvCxnSpPr>
        <p:spPr>
          <a:xfrm>
            <a:off x="742950" y="434340"/>
            <a:ext cx="0" cy="139128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Click to edit Master title style</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 Type="http://schemas.openxmlformats.org/officeDocument/2006/relationships/slideLayout" Target="../slideLayouts/slideLayout12.xml"/><Relationship Id="rId11" Type="http://schemas.openxmlformats.org/officeDocument/2006/relationships/theme" Target="../theme/theme2.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a:gsLst>
            <a:gs pos="0">
              <a:schemeClr val="accent1">
                <a:lumMod val="5000"/>
                <a:lumOff val="95000"/>
              </a:schemeClr>
            </a:gs>
            <a:gs pos="74000">
              <a:schemeClr val="accent1">
                <a:lumMod val="45000"/>
                <a:lumOff val="55000"/>
              </a:schemeClr>
            </a:gs>
            <a:gs pos="83000">
              <a:schemeClr val="accent1">
                <a:lumMod val="45000"/>
                <a:lumOff val="55000"/>
              </a:schemeClr>
            </a:gs>
            <a:gs pos="96000">
              <a:schemeClr val="accent1">
                <a:lumMod val="30000"/>
                <a:lumOff val="70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Click to edit Master title style</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3600" kern="1200">
          <a:solidFill>
            <a:schemeClr val="tx1"/>
          </a:solidFill>
          <a:latin typeface="Times New Roman" panose="02020603050405020304" charset="0"/>
          <a:ea typeface="+mj-ea"/>
          <a:cs typeface="Times New Roman" panose="0202060305040502030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Times New Roman" panose="02020603050405020304" charset="0"/>
          <a:ea typeface="+mn-ea"/>
          <a:cs typeface="Times New Roman" panose="0202060305040502030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charset="0"/>
          <a:ea typeface="+mn-ea"/>
          <a:cs typeface="Times New Roman" panose="0202060305040502030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Click to edit Master title style</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600" kern="1200">
          <a:solidFill>
            <a:schemeClr val="tx1"/>
          </a:solidFill>
          <a:latin typeface="Times New Roman" panose="02020603050405020304" charset="0"/>
          <a:ea typeface="+mn-ea"/>
          <a:cs typeface="Times New Roman" panose="0202060305040502030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ln/>
          <a:solidFill>
            <a:schemeClr val="tx1"/>
          </a:solidFill>
          <a:effectLst/>
          <a:latin typeface="Times New Roman" panose="02020603050405020304" charset="0"/>
          <a:ea typeface="+mn-ea"/>
          <a:cs typeface="Times New Roman" panose="0202060305040502030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charset="0"/>
          <a:ea typeface="+mn-ea"/>
          <a:cs typeface="Times New Roman" panose="0202060305040502030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charset="0"/>
          <a:ea typeface="+mn-ea"/>
          <a:cs typeface="Times New Roman" panose="0202060305040502030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endParaRPr lang="zh-CN" altLang="en-US"/>
          </a:p>
        </p:txBody>
      </p:sp>
      <p:sp>
        <p:nvSpPr>
          <p:cNvPr id="5" name="副标题 4"/>
          <p:cNvSpPr>
            <a:spLocks noGrp="1"/>
          </p:cNvSpPr>
          <p:nvPr>
            <p:ph type="subTitle" idx="1"/>
          </p:nvPr>
        </p:nvSpPr>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lnSpc>
                <a:spcPct val="150000"/>
              </a:lnSpc>
              <a:buNone/>
            </a:pPr>
            <a:r>
              <a:rPr lang="en-US" sz="2800" b="1">
                <a:solidFill>
                  <a:schemeClr val="tx1"/>
                </a:solidFill>
                <a:effectLst/>
                <a:latin typeface="Times New Roman" panose="02020603050405020304" charset="0"/>
                <a:cs typeface="Times New Roman" panose="02020603050405020304" charset="0"/>
              </a:rPr>
              <a:t>Paper Name: </a:t>
            </a:r>
            <a:r>
              <a:rPr lang="en-US" sz="2800">
                <a:solidFill>
                  <a:schemeClr val="tx1"/>
                </a:solidFill>
                <a:effectLst/>
                <a:latin typeface="Times New Roman" panose="02020603050405020304" charset="0"/>
                <a:cs typeface="Times New Roman" panose="02020603050405020304" charset="0"/>
              </a:rPr>
              <a:t>Secure Communication and Dynamic Formation Control of Intelligent Drone Swarms Using Blockchain Technology</a:t>
            </a:r>
            <a:endParaRPr lang="en-US" sz="2800">
              <a:solidFill>
                <a:schemeClr val="tx1"/>
              </a:solidFill>
              <a:effectLst/>
              <a:latin typeface="Times New Roman" panose="02020603050405020304" charset="0"/>
              <a:cs typeface="Times New Roman" panose="02020603050405020304" charset="0"/>
            </a:endParaRPr>
          </a:p>
          <a:p>
            <a:pPr marL="0" indent="0">
              <a:buNone/>
            </a:pPr>
            <a:r>
              <a:rPr lang="en-US" sz="2800" b="1">
                <a:solidFill>
                  <a:schemeClr val="tx1"/>
                </a:solidFill>
                <a:effectLst/>
                <a:latin typeface="Times New Roman" panose="02020603050405020304" charset="0"/>
                <a:cs typeface="Times New Roman" panose="02020603050405020304" charset="0"/>
              </a:rPr>
              <a:t>URL: </a:t>
            </a:r>
            <a:r>
              <a:rPr lang="en-US" sz="2800">
                <a:solidFill>
                  <a:schemeClr val="tx1"/>
                </a:solidFill>
                <a:effectLst/>
                <a:latin typeface="Times New Roman" panose="02020603050405020304" charset="0"/>
                <a:cs typeface="Times New Roman" panose="02020603050405020304" charset="0"/>
              </a:rPr>
              <a:t>https://www.mdpi.com/2078-2489/16/9/768</a:t>
            </a:r>
            <a:endParaRPr lang="en-US" sz="2800">
              <a:solidFill>
                <a:schemeClr val="tx1"/>
              </a:solidFill>
              <a:effectLst/>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p:sndAc>
          <p:endSnd/>
        </p:sndAc>
      </p:transition>
    </mc:Choice>
    <mc:Fallback>
      <p:transition>
        <p:sndAc>
          <p:endSnd/>
        </p:sndAc>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Outline</a:t>
            </a:r>
            <a:endParaRPr lang="en-US"/>
          </a:p>
        </p:txBody>
      </p:sp>
      <p:sp>
        <p:nvSpPr>
          <p:cNvPr id="3" name="Content Placeholder 2"/>
          <p:cNvSpPr>
            <a:spLocks noGrp="1"/>
          </p:cNvSpPr>
          <p:nvPr>
            <p:ph idx="1"/>
          </p:nvPr>
        </p:nvSpPr>
        <p:spPr/>
        <p:txBody>
          <a:bodyPr>
            <a:normAutofit fontScale="90000"/>
          </a:bodyPr>
          <a:p>
            <a:pPr>
              <a:lnSpc>
                <a:spcPct val="100000"/>
              </a:lnSpc>
            </a:pPr>
            <a:r>
              <a:rPr lang="en-US">
                <a:latin typeface="Times New Roman" panose="02020603050405020304" charset="0"/>
                <a:cs typeface="Times New Roman" panose="02020603050405020304" charset="0"/>
              </a:rPr>
              <a:t>Introduction</a:t>
            </a:r>
            <a:endParaRPr lang="en-US">
              <a:latin typeface="Times New Roman" panose="02020603050405020304" charset="0"/>
              <a:cs typeface="Times New Roman" panose="02020603050405020304" charset="0"/>
            </a:endParaRPr>
          </a:p>
          <a:p>
            <a:pPr>
              <a:lnSpc>
                <a:spcPct val="100000"/>
              </a:lnSpc>
            </a:pPr>
            <a:r>
              <a:rPr lang="en-US">
                <a:latin typeface="Times New Roman" panose="02020603050405020304" charset="0"/>
                <a:cs typeface="Times New Roman" panose="02020603050405020304" charset="0"/>
                <a:sym typeface="+mn-ea"/>
              </a:rPr>
              <a:t>Motivation of This Work</a:t>
            </a:r>
            <a:endParaRPr lang="en-US">
              <a:latin typeface="Times New Roman" panose="02020603050405020304" charset="0"/>
              <a:cs typeface="Times New Roman" panose="02020603050405020304" charset="0"/>
              <a:sym typeface="+mn-ea"/>
            </a:endParaRPr>
          </a:p>
          <a:p>
            <a:pPr>
              <a:lnSpc>
                <a:spcPct val="100000"/>
              </a:lnSpc>
            </a:pPr>
            <a:r>
              <a:rPr lang="en-US">
                <a:latin typeface="Times New Roman" panose="02020603050405020304" charset="0"/>
                <a:cs typeface="Times New Roman" panose="02020603050405020304" charset="0"/>
                <a:sym typeface="+mn-ea"/>
              </a:rPr>
              <a:t>Proposed Method</a:t>
            </a:r>
            <a:endParaRPr lang="en-US">
              <a:latin typeface="Times New Roman" panose="02020603050405020304" charset="0"/>
              <a:cs typeface="Times New Roman" panose="02020603050405020304" charset="0"/>
            </a:endParaRPr>
          </a:p>
          <a:p>
            <a:pPr>
              <a:lnSpc>
                <a:spcPct val="100000"/>
              </a:lnSpc>
            </a:pPr>
            <a:r>
              <a:rPr lang="en-US">
                <a:latin typeface="Times New Roman" panose="02020603050405020304" charset="0"/>
                <a:cs typeface="Times New Roman" panose="02020603050405020304" charset="0"/>
                <a:sym typeface="+mn-ea"/>
              </a:rPr>
              <a:t>Model Architecture</a:t>
            </a:r>
            <a:endParaRPr lang="en-US">
              <a:latin typeface="Times New Roman" panose="02020603050405020304" charset="0"/>
              <a:cs typeface="Times New Roman" panose="02020603050405020304" charset="0"/>
            </a:endParaRPr>
          </a:p>
          <a:p>
            <a:pPr>
              <a:lnSpc>
                <a:spcPct val="100000"/>
              </a:lnSpc>
            </a:pPr>
            <a:r>
              <a:rPr lang="en-US">
                <a:latin typeface="Times New Roman" panose="02020603050405020304" charset="0"/>
                <a:cs typeface="Times New Roman" panose="02020603050405020304" charset="0"/>
                <a:sym typeface="+mn-ea"/>
              </a:rPr>
              <a:t>Smart Contracts for Drone Swarms</a:t>
            </a:r>
            <a:endParaRPr lang="en-US">
              <a:latin typeface="Times New Roman" panose="02020603050405020304" charset="0"/>
              <a:cs typeface="Times New Roman" panose="02020603050405020304" charset="0"/>
            </a:endParaRPr>
          </a:p>
          <a:p>
            <a:pPr>
              <a:lnSpc>
                <a:spcPct val="100000"/>
              </a:lnSpc>
            </a:pPr>
            <a:r>
              <a:rPr lang="en-US">
                <a:latin typeface="Times New Roman" panose="02020603050405020304" charset="0"/>
                <a:cs typeface="Times New Roman" panose="02020603050405020304" charset="0"/>
                <a:sym typeface="+mn-ea"/>
              </a:rPr>
              <a:t>Leader and Follower Mechanism</a:t>
            </a:r>
            <a:endParaRPr lang="en-US">
              <a:latin typeface="Times New Roman" panose="02020603050405020304" charset="0"/>
              <a:cs typeface="Times New Roman" panose="02020603050405020304" charset="0"/>
            </a:endParaRPr>
          </a:p>
          <a:p>
            <a:pPr>
              <a:lnSpc>
                <a:spcPct val="100000"/>
              </a:lnSpc>
            </a:pPr>
            <a:r>
              <a:rPr lang="en-US">
                <a:latin typeface="Times New Roman" panose="02020603050405020304" charset="0"/>
                <a:cs typeface="Times New Roman" panose="02020603050405020304" charset="0"/>
                <a:sym typeface="+mn-ea"/>
              </a:rPr>
              <a:t>Dynamic Formation Control Concept</a:t>
            </a:r>
            <a:endParaRPr lang="en-US">
              <a:latin typeface="Times New Roman" panose="02020603050405020304" charset="0"/>
              <a:cs typeface="Times New Roman" panose="02020603050405020304" charset="0"/>
            </a:endParaRPr>
          </a:p>
          <a:p>
            <a:pPr>
              <a:lnSpc>
                <a:spcPct val="100000"/>
              </a:lnSpc>
            </a:pPr>
            <a:r>
              <a:rPr lang="en-US">
                <a:latin typeface="Times New Roman" panose="02020603050405020304" charset="0"/>
                <a:cs typeface="Times New Roman" panose="02020603050405020304" charset="0"/>
                <a:sym typeface="+mn-ea"/>
              </a:rPr>
              <a:t>Conclusion</a:t>
            </a:r>
            <a:endParaRPr lang="en-US">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p:sndAc>
          <p:endSnd/>
        </p:sndAc>
      </p:transition>
    </mc:Choice>
    <mc:Fallback>
      <p:transition>
        <p:sndAc>
          <p:endSnd/>
        </p:sndAc>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Introduction</a:t>
            </a:r>
            <a:endParaRPr lang="en-US"/>
          </a:p>
        </p:txBody>
      </p:sp>
      <p:sp>
        <p:nvSpPr>
          <p:cNvPr id="3" name="Content Placeholder 2"/>
          <p:cNvSpPr>
            <a:spLocks noGrp="1"/>
          </p:cNvSpPr>
          <p:nvPr>
            <p:ph idx="1"/>
          </p:nvPr>
        </p:nvSpPr>
        <p:spPr>
          <a:xfrm>
            <a:off x="647700" y="1584960"/>
            <a:ext cx="11097260" cy="4840605"/>
          </a:xfrm>
        </p:spPr>
        <p:txBody>
          <a:bodyPr>
            <a:normAutofit lnSpcReduction="20000"/>
          </a:bodyPr>
          <a:p>
            <a:pPr>
              <a:lnSpc>
                <a:spcPct val="100000"/>
              </a:lnSpc>
            </a:pPr>
            <a:r>
              <a:rPr lang="en-US">
                <a:latin typeface="Times New Roman" panose="02020603050405020304" charset="0"/>
                <a:cs typeface="Times New Roman" panose="02020603050405020304" charset="0"/>
              </a:rPr>
              <a:t>Inspired by natural swarming behaviors (birds, fish, insects)</a:t>
            </a:r>
            <a:endParaRPr lang="en-US">
              <a:latin typeface="Times New Roman" panose="02020603050405020304" charset="0"/>
              <a:cs typeface="Times New Roman" panose="02020603050405020304" charset="0"/>
            </a:endParaRPr>
          </a:p>
          <a:p>
            <a:pPr>
              <a:lnSpc>
                <a:spcPct val="100000"/>
              </a:lnSpc>
            </a:pPr>
            <a:r>
              <a:rPr lang="en-US">
                <a:latin typeface="Times New Roman" panose="02020603050405020304" charset="0"/>
                <a:cs typeface="Times New Roman" panose="02020603050405020304" charset="0"/>
              </a:rPr>
              <a:t>Designed for autonomous decision-making and coordinated operations</a:t>
            </a:r>
            <a:endParaRPr lang="en-US">
              <a:latin typeface="Times New Roman" panose="02020603050405020304" charset="0"/>
              <a:cs typeface="Times New Roman" panose="02020603050405020304" charset="0"/>
            </a:endParaRPr>
          </a:p>
          <a:p>
            <a:pPr>
              <a:lnSpc>
                <a:spcPct val="100000"/>
              </a:lnSpc>
            </a:pPr>
            <a:r>
              <a:rPr lang="en-US">
                <a:latin typeface="Times New Roman" panose="02020603050405020304" charset="0"/>
                <a:cs typeface="Times New Roman" panose="02020603050405020304" charset="0"/>
              </a:rPr>
              <a:t>Communication links are vulnerable to obstacles, poor coverage, and cyber threats</a:t>
            </a:r>
            <a:endParaRPr lang="en-US">
              <a:latin typeface="Times New Roman" panose="02020603050405020304" charset="0"/>
              <a:cs typeface="Times New Roman" panose="02020603050405020304" charset="0"/>
            </a:endParaRPr>
          </a:p>
          <a:p>
            <a:pPr>
              <a:lnSpc>
                <a:spcPct val="100000"/>
              </a:lnSpc>
            </a:pPr>
            <a:r>
              <a:rPr lang="en-US">
                <a:latin typeface="Times New Roman" panose="02020603050405020304" charset="0"/>
                <a:cs typeface="Times New Roman" panose="02020603050405020304" charset="0"/>
              </a:rPr>
              <a:t>Increasing swarm size leads to higher control complexity and communication overhead</a:t>
            </a:r>
            <a:endParaRPr lang="en-US">
              <a:latin typeface="Times New Roman" panose="02020603050405020304" charset="0"/>
              <a:cs typeface="Times New Roman" panose="02020603050405020304" charset="0"/>
            </a:endParaRPr>
          </a:p>
          <a:p>
            <a:pPr>
              <a:lnSpc>
                <a:spcPct val="100000"/>
              </a:lnSpc>
            </a:pPr>
            <a:r>
              <a:rPr lang="en-US">
                <a:latin typeface="Times New Roman" panose="02020603050405020304" charset="0"/>
                <a:cs typeface="Times New Roman" panose="02020603050405020304" charset="0"/>
              </a:rPr>
              <a:t>These challenges reduce reliability and adaptability in large-scale, dynamic environments</a:t>
            </a:r>
            <a:endParaRPr lang="en-US">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p:sndAc>
          <p:endSnd/>
        </p:sndAc>
      </p:transition>
    </mc:Choice>
    <mc:Fallback>
      <p:transition>
        <p:sndAc>
          <p:endSnd/>
        </p:sndAc>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457835"/>
            <a:ext cx="10515600" cy="1126490"/>
          </a:xfrm>
        </p:spPr>
        <p:txBody>
          <a:bodyPr/>
          <a:p>
            <a:r>
              <a:rPr lang="en-US"/>
              <a:t>Motivation of This Work</a:t>
            </a:r>
            <a:endParaRPr lang="en-US"/>
          </a:p>
        </p:txBody>
      </p:sp>
      <p:sp>
        <p:nvSpPr>
          <p:cNvPr id="3" name="Content Placeholder 2"/>
          <p:cNvSpPr>
            <a:spLocks noGrp="1"/>
          </p:cNvSpPr>
          <p:nvPr>
            <p:ph idx="1"/>
          </p:nvPr>
        </p:nvSpPr>
        <p:spPr>
          <a:xfrm>
            <a:off x="481330" y="1891665"/>
            <a:ext cx="11346815" cy="4285615"/>
          </a:xfrm>
        </p:spPr>
        <p:txBody>
          <a:bodyPr>
            <a:normAutofit/>
          </a:bodyPr>
          <a:p>
            <a:pPr>
              <a:lnSpc>
                <a:spcPct val="100000"/>
              </a:lnSpc>
            </a:pPr>
            <a:r>
              <a:rPr lang="en-US"/>
              <a:t>The main motivation of this paper is to combine blockchain technology with the dynamic formation control and secure communication of drone swarms.</a:t>
            </a:r>
            <a:endParaRPr lang="en-US"/>
          </a:p>
          <a:p>
            <a:pPr>
              <a:lnSpc>
                <a:spcPct val="100000"/>
              </a:lnSpc>
            </a:pPr>
            <a:r>
              <a:rPr lang="en-US"/>
              <a:t>The purpose of this combination is to develop a more secure and smooth information exchange scheme.</a:t>
            </a:r>
            <a:endParaRPr lang="en-US"/>
          </a:p>
          <a:p>
            <a:pPr>
              <a:lnSpc>
                <a:spcPct val="100000"/>
              </a:lnSpc>
            </a:pPr>
            <a:r>
              <a:rPr lang="en-US"/>
              <a:t>The aim is to protect the drone swarm from common malicious attacks such as node tampering and deception, ensuring the stability and robustness of drones when they are in dynamic formation.</a:t>
            </a:r>
            <a:endParaRPr lang="en-US"/>
          </a:p>
        </p:txBody>
      </p:sp>
    </p:spTree>
  </p:cSld>
  <p:clrMapOvr>
    <a:masterClrMapping/>
  </p:clrMapOvr>
  <mc:AlternateContent xmlns:mc="http://schemas.openxmlformats.org/markup-compatibility/2006">
    <mc:Choice xmlns:p14="http://schemas.microsoft.com/office/powerpoint/2010/main" Requires="p14">
      <p:transition p14:dur="500">
        <p:sndAc>
          <p:endSnd/>
        </p:sndAc>
      </p:transition>
    </mc:Choice>
    <mc:Fallback>
      <p:transition>
        <p:sndAc>
          <p:endSnd/>
        </p:sndAc>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Proposed Method</a:t>
            </a:r>
            <a:endParaRPr lang="en-US"/>
          </a:p>
        </p:txBody>
      </p:sp>
      <p:sp>
        <p:nvSpPr>
          <p:cNvPr id="3" name="Content Placeholder 2"/>
          <p:cNvSpPr>
            <a:spLocks noGrp="1"/>
          </p:cNvSpPr>
          <p:nvPr>
            <p:ph idx="1"/>
          </p:nvPr>
        </p:nvSpPr>
        <p:spPr/>
        <p:txBody>
          <a:bodyPr>
            <a:normAutofit lnSpcReduction="10000"/>
          </a:bodyPr>
          <a:p>
            <a:pPr>
              <a:lnSpc>
                <a:spcPct val="100000"/>
              </a:lnSpc>
              <a:buFont typeface="Arial" panose="020B0604020202020204" pitchFamily="34" charset="0"/>
              <a:buChar char="•"/>
            </a:pPr>
            <a:r>
              <a:rPr lang="en-US"/>
              <a:t>Blockchain-based event-driven distributed UAV formation control architecture</a:t>
            </a:r>
            <a:endParaRPr lang="en-US"/>
          </a:p>
          <a:p>
            <a:pPr lvl="1">
              <a:lnSpc>
                <a:spcPct val="100000"/>
              </a:lnSpc>
              <a:buFont typeface="Abyssinica SIL" panose="02000000000000000000" charset="0"/>
              <a:buChar char="*"/>
            </a:pPr>
            <a:r>
              <a:rPr lang="en-US"/>
              <a:t> Smart contracts enable autonomous UAV registration</a:t>
            </a:r>
            <a:endParaRPr lang="en-US"/>
          </a:p>
          <a:p>
            <a:pPr lvl="1">
              <a:lnSpc>
                <a:spcPct val="100000"/>
              </a:lnSpc>
              <a:buFont typeface="Abyssinica SIL" panose="02000000000000000000" charset="0"/>
              <a:buChar char="*"/>
            </a:pPr>
            <a:r>
              <a:rPr lang="en-US"/>
              <a:t>Support task distribution and formation management</a:t>
            </a:r>
            <a:endParaRPr lang="en-US"/>
          </a:p>
          <a:p>
            <a:pPr lvl="0">
              <a:lnSpc>
                <a:spcPct val="100000"/>
              </a:lnSpc>
              <a:buFont typeface="Arial" panose="020B0604020202020204" pitchFamily="34" charset="0"/>
              <a:buChar char="•"/>
            </a:pPr>
            <a:r>
              <a:rPr lang="en-US"/>
              <a:t>Parametric dynamic formation control algorithm</a:t>
            </a:r>
            <a:endParaRPr lang="en-US"/>
          </a:p>
          <a:p>
            <a:pPr lvl="1">
              <a:lnSpc>
                <a:spcPct val="100000"/>
              </a:lnSpc>
              <a:buFont typeface="Abyssinica SIL" panose="02000000000000000000" charset="0"/>
              <a:buChar char="*"/>
            </a:pPr>
            <a:r>
              <a:rPr lang="en-US"/>
              <a:t>Includes a conflict resolution mechanism</a:t>
            </a:r>
            <a:endParaRPr lang="en-US"/>
          </a:p>
          <a:p>
            <a:pPr lvl="1">
              <a:lnSpc>
                <a:spcPct val="100000"/>
              </a:lnSpc>
              <a:buFont typeface="Abyssinica SIL" panose="02000000000000000000" charset="0"/>
              <a:buChar char="*"/>
            </a:pPr>
            <a:r>
              <a:rPr lang="en-US"/>
              <a:t> Uses an angle–distance dual-parameter mathematical model</a:t>
            </a:r>
            <a:endParaRPr lang="en-US"/>
          </a:p>
          <a:p>
            <a:pPr lvl="1">
              <a:lnSpc>
                <a:spcPct val="100000"/>
              </a:lnSpc>
              <a:buFont typeface="Abyssinica SIL" panose="02000000000000000000" charset="0"/>
              <a:buChar char="*"/>
            </a:pPr>
            <a:r>
              <a:rPr lang="en-US"/>
              <a:t> Supports adaptive switching between different formations</a:t>
            </a:r>
            <a:endParaRPr lang="en-US"/>
          </a:p>
          <a:p>
            <a:pPr marL="457200" lvl="1" indent="0">
              <a:lnSpc>
                <a:spcPct val="100000"/>
              </a:lnSpc>
              <a:buNone/>
            </a:pPr>
            <a:endParaRPr lang="en-US"/>
          </a:p>
        </p:txBody>
      </p:sp>
    </p:spTree>
  </p:cSld>
  <p:clrMapOvr>
    <a:masterClrMapping/>
  </p:clrMapOvr>
  <mc:AlternateContent xmlns:mc="http://schemas.openxmlformats.org/markup-compatibility/2006">
    <mc:Choice xmlns:p14="http://schemas.microsoft.com/office/powerpoint/2010/main" Requires="p14">
      <p:transition p14:dur="500">
        <p:sndAc>
          <p:endSnd/>
        </p:sndAc>
      </p:transition>
    </mc:Choice>
    <mc:Fallback>
      <p:transition>
        <p:sndAc>
          <p:endSnd/>
        </p:sndAc>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Cont..</a:t>
            </a:r>
            <a:endParaRPr lang="en-US"/>
          </a:p>
        </p:txBody>
      </p:sp>
      <p:sp>
        <p:nvSpPr>
          <p:cNvPr id="3" name="Content Placeholder 2"/>
          <p:cNvSpPr>
            <a:spLocks noGrp="1"/>
          </p:cNvSpPr>
          <p:nvPr>
            <p:ph idx="1"/>
          </p:nvPr>
        </p:nvSpPr>
        <p:spPr/>
        <p:txBody>
          <a:bodyPr/>
          <a:p>
            <a:pPr lvl="1">
              <a:lnSpc>
                <a:spcPct val="100000"/>
              </a:lnSpc>
              <a:buFont typeface="Arial" panose="020B0604020202020204" pitchFamily="34" charset="0"/>
              <a:buChar char="•"/>
            </a:pPr>
            <a:r>
              <a:rPr lang="en-US" sz="2800">
                <a:sym typeface="+mn-ea"/>
              </a:rPr>
              <a:t>Precise positioning and collision avoidance</a:t>
            </a:r>
            <a:endParaRPr lang="en-US" sz="2800"/>
          </a:p>
          <a:p>
            <a:pPr lvl="2">
              <a:lnSpc>
                <a:spcPct val="100000"/>
              </a:lnSpc>
              <a:buFont typeface="Abyssinica SIL" panose="02000000000000000000" charset="0"/>
              <a:buChar char="*"/>
            </a:pPr>
            <a:r>
              <a:rPr lang="en-US" sz="1775">
                <a:sym typeface="+mn-ea"/>
              </a:rPr>
              <a:t>  </a:t>
            </a:r>
            <a:r>
              <a:rPr lang="en-US" sz="2400">
                <a:sym typeface="+mn-ea"/>
              </a:rPr>
              <a:t>Haversine spherical coordinate transformation for large-scale positioning</a:t>
            </a:r>
            <a:endParaRPr lang="en-US" sz="2400"/>
          </a:p>
          <a:p>
            <a:pPr lvl="2">
              <a:lnSpc>
                <a:spcPct val="100000"/>
              </a:lnSpc>
              <a:buFont typeface="Abyssinica SIL" panose="02000000000000000000" charset="0"/>
              <a:buChar char="*"/>
            </a:pPr>
            <a:r>
              <a:rPr lang="en-US" sz="2400">
                <a:sym typeface="+mn-ea"/>
              </a:rPr>
              <a:t>  Euclidean distance calculation for local collision detection</a:t>
            </a:r>
            <a:endParaRPr lang="en-US" sz="2400"/>
          </a:p>
          <a:p>
            <a:pPr lvl="2">
              <a:lnSpc>
                <a:spcPct val="100000"/>
              </a:lnSpc>
              <a:buFont typeface="Abyssinica SIL" panose="02000000000000000000" charset="0"/>
              <a:buChar char="*"/>
            </a:pPr>
            <a:r>
              <a:rPr lang="en-US" sz="2400">
                <a:sym typeface="+mn-ea"/>
              </a:rPr>
              <a:t>  Blockchain-based position locking ensures collision-free formation reconfiguration</a:t>
            </a:r>
            <a:endParaRPr lang="en-US" sz="2400"/>
          </a:p>
          <a:p>
            <a:pPr lvl="1">
              <a:buFont typeface="Abyssinica SIL" panose="02000000000000000000" charset="0"/>
              <a:buChar char="*"/>
            </a:pPr>
            <a:endParaRPr lang="en-US" sz="2400"/>
          </a:p>
        </p:txBody>
      </p:sp>
    </p:spTree>
  </p:cSld>
  <p:clrMapOvr>
    <a:masterClrMapping/>
  </p:clrMapOvr>
  <mc:AlternateContent xmlns:mc="http://schemas.openxmlformats.org/markup-compatibility/2006">
    <mc:Choice xmlns:p14="http://schemas.microsoft.com/office/powerpoint/2010/main" Requires="p14">
      <p:transition p14:dur="500">
        <p:sndAc>
          <p:endSnd/>
        </p:sndAc>
      </p:transition>
    </mc:Choice>
    <mc:Fallback>
      <p:transition>
        <p:sndAc>
          <p:endSnd/>
        </p:sndAc>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Model Architecture</a:t>
            </a:r>
            <a:endParaRPr lang="en-US"/>
          </a:p>
        </p:txBody>
      </p:sp>
      <p:sp>
        <p:nvSpPr>
          <p:cNvPr id="3" name="Content Placeholder 2"/>
          <p:cNvSpPr>
            <a:spLocks noGrp="1"/>
          </p:cNvSpPr>
          <p:nvPr>
            <p:ph idx="1"/>
          </p:nvPr>
        </p:nvSpPr>
        <p:spPr>
          <a:xfrm>
            <a:off x="647700" y="1457960"/>
            <a:ext cx="10515600" cy="4719320"/>
          </a:xfrm>
        </p:spPr>
        <p:txBody>
          <a:bodyPr>
            <a:normAutofit lnSpcReduction="20000"/>
          </a:bodyPr>
          <a:p>
            <a:r>
              <a:rPr lang="en-US"/>
              <a:t>Smart Contract (Blockchain Layer)</a:t>
            </a:r>
            <a:endParaRPr lang="en-US"/>
          </a:p>
          <a:p>
            <a:pPr lvl="2">
              <a:lnSpc>
                <a:spcPct val="100000"/>
              </a:lnSpc>
              <a:buFont typeface="Abyssinica SIL" panose="02000000000000000000" charset="0"/>
              <a:buChar char="*"/>
            </a:pPr>
            <a:r>
              <a:rPr lang="en-US" sz="2400"/>
              <a:t>Uses cryptography and consensus mechanisms</a:t>
            </a:r>
            <a:endParaRPr lang="en-US" sz="2400"/>
          </a:p>
          <a:p>
            <a:pPr lvl="2">
              <a:lnSpc>
                <a:spcPct val="100000"/>
              </a:lnSpc>
              <a:buFont typeface="Abyssinica SIL" panose="02000000000000000000" charset="0"/>
              <a:buChar char="*"/>
            </a:pPr>
            <a:r>
              <a:rPr lang="en-US" sz="2400"/>
              <a:t>Enables all nodes to maintain transaction records without a central authority</a:t>
            </a:r>
            <a:endParaRPr lang="en-US" sz="2400"/>
          </a:p>
          <a:p>
            <a:pPr lvl="2">
              <a:lnSpc>
                <a:spcPct val="100000"/>
              </a:lnSpc>
              <a:buFont typeface="Abyssinica SIL" panose="02000000000000000000" charset="0"/>
              <a:buChar char="*"/>
            </a:pPr>
            <a:r>
              <a:rPr lang="en-US" sz="2400"/>
              <a:t>Each block consists of header and body</a:t>
            </a:r>
            <a:endParaRPr lang="en-US" sz="2400"/>
          </a:p>
          <a:p>
            <a:pPr lvl="2">
              <a:buNone/>
            </a:pPr>
            <a:endParaRPr lang="en-US"/>
          </a:p>
          <a:p>
            <a:pPr marL="0" lvl="0" indent="0">
              <a:buNone/>
            </a:pPr>
            <a:r>
              <a:rPr lang="en-US"/>
              <a:t>Leader–Follower Architecture</a:t>
            </a:r>
            <a:endParaRPr lang="en-US"/>
          </a:p>
          <a:p>
            <a:pPr lvl="2">
              <a:lnSpc>
                <a:spcPct val="100000"/>
              </a:lnSpc>
              <a:buFont typeface="Abyssinica SIL" panose="02000000000000000000" charset="0"/>
              <a:buChar char="*"/>
            </a:pPr>
            <a:r>
              <a:rPr lang="en-US" sz="2400"/>
              <a:t>Leader generates global trajectory</a:t>
            </a:r>
            <a:endParaRPr lang="en-US" sz="2400"/>
          </a:p>
          <a:p>
            <a:pPr lvl="2">
              <a:lnSpc>
                <a:spcPct val="100000"/>
              </a:lnSpc>
              <a:buFont typeface="Abyssinica SIL" panose="02000000000000000000" charset="0"/>
              <a:buChar char="*"/>
            </a:pPr>
            <a:r>
              <a:rPr lang="en-US" sz="2400"/>
              <a:t>Followers maintain formation via relative position or attitude tracking</a:t>
            </a:r>
            <a:endParaRPr lang="en-US" sz="2400"/>
          </a:p>
          <a:p>
            <a:pPr lvl="2">
              <a:lnSpc>
                <a:spcPct val="100000"/>
              </a:lnSpc>
              <a:buFont typeface="Abyssinica SIL" panose="02000000000000000000" charset="0"/>
              <a:buChar char="*"/>
            </a:pPr>
            <a:r>
              <a:rPr lang="en-US" sz="2400"/>
              <a:t>Advantages: simple, efficient, highly scalable</a:t>
            </a:r>
            <a:endParaRPr lang="en-US" sz="2400"/>
          </a:p>
          <a:p>
            <a:pPr lvl="2">
              <a:lnSpc>
                <a:spcPct val="100000"/>
              </a:lnSpc>
              <a:buFont typeface="Abyssinica SIL" panose="02000000000000000000" charset="0"/>
              <a:buChar char="*"/>
            </a:pPr>
            <a:r>
              <a:rPr lang="en-US" sz="2400"/>
              <a:t>Supports dynamic addition/removal of nodes</a:t>
            </a:r>
            <a:endParaRPr lang="en-US" sz="2400"/>
          </a:p>
          <a:p>
            <a:pPr lvl="2">
              <a:lnSpc>
                <a:spcPct val="100000"/>
              </a:lnSpc>
              <a:buFont typeface="Abyssinica SIL" panose="02000000000000000000" charset="0"/>
              <a:buChar char="*"/>
            </a:pPr>
            <a:r>
              <a:rPr lang="en-US" sz="2400"/>
              <a:t>Ideal for resource-constrained drone clusters</a:t>
            </a:r>
            <a:endParaRPr lang="en-US" sz="2400"/>
          </a:p>
          <a:p>
            <a:pPr lvl="2">
              <a:lnSpc>
                <a:spcPct val="100000"/>
              </a:lnSpc>
              <a:buFont typeface="Abyssinica SIL" panose="02000000000000000000" charset="0"/>
              <a:buChar char="*"/>
            </a:pPr>
            <a:r>
              <a:rPr lang="en-US" sz="2400"/>
              <a:t>It acts as cluster admission controller</a:t>
            </a:r>
            <a:endParaRPr lang="en-US" sz="2400"/>
          </a:p>
        </p:txBody>
      </p:sp>
    </p:spTree>
  </p:cSld>
  <p:clrMapOvr>
    <a:masterClrMapping/>
  </p:clrMapOvr>
  <mc:AlternateContent xmlns:mc="http://schemas.openxmlformats.org/markup-compatibility/2006">
    <mc:Choice xmlns:p14="http://schemas.microsoft.com/office/powerpoint/2010/main" Requires="p14">
      <p:transition p14:dur="500">
        <p:sndAc>
          <p:endSnd/>
        </p:sndAc>
      </p:transition>
    </mc:Choice>
    <mc:Fallback>
      <p:transition>
        <p:sndAc>
          <p:endSnd/>
        </p:sndAc>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258445"/>
            <a:ext cx="10515600" cy="1085215"/>
          </a:xfrm>
        </p:spPr>
        <p:txBody>
          <a:bodyPr/>
          <a:p>
            <a:r>
              <a:rPr lang="en-US"/>
              <a:t>Smart Contracts for Drone Swarms</a:t>
            </a:r>
            <a:endParaRPr lang="en-US"/>
          </a:p>
        </p:txBody>
      </p:sp>
      <p:sp>
        <p:nvSpPr>
          <p:cNvPr id="3" name="Content Placeholder 2"/>
          <p:cNvSpPr>
            <a:spLocks noGrp="1"/>
          </p:cNvSpPr>
          <p:nvPr>
            <p:ph idx="1"/>
          </p:nvPr>
        </p:nvSpPr>
        <p:spPr>
          <a:xfrm>
            <a:off x="647700" y="1642745"/>
            <a:ext cx="10515600" cy="4534535"/>
          </a:xfrm>
        </p:spPr>
        <p:txBody>
          <a:bodyPr>
            <a:normAutofit/>
          </a:bodyPr>
          <a:p>
            <a:r>
              <a:rPr lang="en-US"/>
              <a:t>Ensure secure communication and dynamic formation control</a:t>
            </a:r>
            <a:endParaRPr lang="en-US"/>
          </a:p>
          <a:p>
            <a:r>
              <a:rPr lang="en-US"/>
              <a:t>Deployed on a blockchain network compatible with </a:t>
            </a:r>
            <a:r>
              <a:rPr lang="en-US">
                <a:sym typeface="+mn-ea"/>
              </a:rPr>
              <a:t> Ethereum Virtual Machine (EVM).</a:t>
            </a:r>
            <a:endParaRPr lang="en-US"/>
          </a:p>
          <a:p>
            <a:r>
              <a:rPr lang="en-US"/>
              <a:t>Formation types and tasks:</a:t>
            </a:r>
            <a:endParaRPr lang="en-US"/>
          </a:p>
          <a:p>
            <a:pPr lvl="1">
              <a:lnSpc>
                <a:spcPct val="100000"/>
              </a:lnSpc>
              <a:buFont typeface="Abyssinica SIL" panose="02000000000000000000" charset="0"/>
              <a:buChar char="*"/>
            </a:pPr>
            <a:r>
              <a:rPr lang="en-US"/>
              <a:t>Linear: crossing narrow terrain, uniform coverage, efficient scanning (e.g., pesticide spraying)</a:t>
            </a:r>
            <a:endParaRPr lang="en-US"/>
          </a:p>
          <a:p>
            <a:pPr lvl="1">
              <a:lnSpc>
                <a:spcPct val="100000"/>
              </a:lnSpc>
              <a:buFont typeface="Abyssinica SIL" panose="02000000000000000000" charset="0"/>
              <a:buChar char="*"/>
            </a:pPr>
            <a:r>
              <a:rPr lang="en-US"/>
              <a:t>Circular: 360° encirclement of a target (e.g., defensive encirclement)</a:t>
            </a:r>
            <a:endParaRPr lang="en-US"/>
          </a:p>
          <a:p>
            <a:pPr lvl="1">
              <a:lnSpc>
                <a:spcPct val="100000"/>
              </a:lnSpc>
              <a:buFont typeface="Abyssinica SIL" panose="02000000000000000000" charset="0"/>
              <a:buChar char="*"/>
            </a:pPr>
            <a:r>
              <a:rPr lang="en-US"/>
              <a:t>V-shaped: long-distance cruising, reduced energy for rear drones (e.g., border patrol)</a:t>
            </a:r>
            <a:endParaRPr lang="en-US"/>
          </a:p>
        </p:txBody>
      </p:sp>
    </p:spTree>
  </p:cSld>
  <p:clrMapOvr>
    <a:masterClrMapping/>
  </p:clrMapOvr>
  <mc:AlternateContent xmlns:mc="http://schemas.openxmlformats.org/markup-compatibility/2006">
    <mc:Choice xmlns:p14="http://schemas.microsoft.com/office/powerpoint/2010/main" Requires="p14">
      <p:transition p14:dur="500">
        <p:sndAc>
          <p:endSnd/>
        </p:sndAc>
      </p:transition>
    </mc:Choice>
    <mc:Fallback>
      <p:transition>
        <p:sndAc>
          <p:endSnd/>
        </p:sndAc>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Leader and Follower Mechanism</a:t>
            </a:r>
            <a:endParaRPr lang="en-US"/>
          </a:p>
        </p:txBody>
      </p:sp>
      <p:sp>
        <p:nvSpPr>
          <p:cNvPr id="3" name="Content Placeholder 2"/>
          <p:cNvSpPr>
            <a:spLocks noGrp="1"/>
          </p:cNvSpPr>
          <p:nvPr>
            <p:ph idx="1"/>
          </p:nvPr>
        </p:nvSpPr>
        <p:spPr/>
        <p:txBody>
          <a:bodyPr/>
          <a:p>
            <a:r>
              <a:rPr lang="en-US"/>
              <a:t>Member Management: Dynamically registers, deregisters followers, and stores drone addresses</a:t>
            </a:r>
            <a:endParaRPr lang="en-US"/>
          </a:p>
          <a:p>
            <a:r>
              <a:rPr lang="en-US"/>
              <a:t>Parameter Management: submits formation control parameters (mission type &amp; coordinates)</a:t>
            </a:r>
            <a:endParaRPr lang="en-US"/>
          </a:p>
          <a:p>
            <a:r>
              <a:rPr lang="en-US"/>
              <a:t>Follower read mission and formation data from blockchain determine closest formation position relative to the leader</a:t>
            </a:r>
            <a:endParaRPr lang="en-US"/>
          </a:p>
        </p:txBody>
      </p:sp>
    </p:spTree>
  </p:cSld>
  <p:clrMapOvr>
    <a:masterClrMapping/>
  </p:clrMapOvr>
  <mc:AlternateContent xmlns:mc="http://schemas.openxmlformats.org/markup-compatibility/2006">
    <mc:Choice xmlns:p14="http://schemas.microsoft.com/office/powerpoint/2010/main" Requires="p14">
      <p:transition p14:dur="500">
        <p:sndAc>
          <p:endSnd/>
        </p:sndAc>
      </p:transition>
    </mc:Choice>
    <mc:Fallback>
      <p:transition>
        <p:sndAc>
          <p:endSnd/>
        </p:sndAc>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Dynamic Formation Control Concept</a:t>
            </a:r>
            <a:endParaRPr lang="en-US"/>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p>
                <a:r>
                  <a:rPr lang="en-US"/>
                  <a:t>Flexible formation control based on angle–distance parameter adjustment</a:t>
                </a:r>
                <a:endParaRPr lang="en-US"/>
              </a:p>
              <a:p>
                <a:r>
                  <a:rPr lang="en-US"/>
                  <a:t>Two key parameter sets:</a:t>
                </a:r>
                <a:endParaRPr lang="en-US"/>
              </a:p>
              <a:p>
                <a:pPr lvl="1">
                  <a:lnSpc>
                    <a:spcPct val="100000"/>
                  </a:lnSpc>
                  <a:buFont typeface="Abyssinica SIL" panose="02000000000000000000" charset="0"/>
                  <a:buChar char="*"/>
                </a:pPr>
                <a:r>
                  <a:rPr lang="en-US"/>
                  <a:t> Formation distances (</a:t>
                </a:r>
                <a:r>
                  <a:rPr lang="en-US">
                    <a:sym typeface="+mn-ea"/>
                  </a:rPr>
                  <a:t>(</a:t>
                </a:r>
                <a14:m>
                  <m:oMath xmlns:m="http://schemas.openxmlformats.org/officeDocument/2006/math">
                    <m:r>
                      <a:rPr lang="en-US" i="1">
                        <a:latin typeface="DejaVu Math TeX Gyre" panose="02000503000000000000" charset="0"/>
                        <a:cs typeface="DejaVu Math TeX Gyre" panose="02000503000000000000" charset="0"/>
                      </a:rPr>
                      <m:t>𝑓𝑑</m:t>
                    </m:r>
                  </m:oMath>
                </a14:m>
                <a:r>
                  <a:rPr lang="en-US">
                    <a:sym typeface="+mn-ea"/>
                  </a:rPr>
                  <a:t>)</a:t>
                </a:r>
                <a:r>
                  <a:rPr lang="en-US"/>
                  <a:t>): relative distances between leader and followers</a:t>
                </a:r>
                <a:endParaRPr lang="en-US"/>
              </a:p>
              <a:p>
                <a:pPr lvl="1">
                  <a:lnSpc>
                    <a:spcPct val="100000"/>
                  </a:lnSpc>
                  <a:buFont typeface="Abyssinica SIL" panose="02000000000000000000" charset="0"/>
                  <a:buChar char="*"/>
                </a:pPr>
                <a:r>
                  <a:rPr lang="en-US"/>
                  <a:t> Formation angles (</a:t>
                </a:r>
                <a14:m>
                  <m:oMath xmlns:m="http://schemas.openxmlformats.org/officeDocument/2006/math">
                    <m:r>
                      <a:rPr lang="en-US" i="1">
                        <a:latin typeface="DejaVu Math TeX Gyre" panose="02000503000000000000" charset="0"/>
                        <a:cs typeface="DejaVu Math TeX Gyre" panose="02000503000000000000" charset="0"/>
                      </a:rPr>
                      <m:t>𝑓</m:t>
                    </m:r>
                  </m:oMath>
                </a14:m>
                <a:r>
                  <a:rPr lang="en-US"/>
                  <a:t>a): relative angles of followers with respect to the leader</a:t>
                </a:r>
                <a:endParaRPr lang="en-US"/>
              </a:p>
              <a:p>
                <a:pPr lvl="1">
                  <a:lnSpc>
                    <a:spcPct val="100000"/>
                  </a:lnSpc>
                  <a:buFont typeface="Abyssinica SIL" panose="02000000000000000000" charset="0"/>
                  <a:buChar char="*"/>
                </a:pPr>
                <a:endParaRPr lang="en-US"/>
              </a:p>
              <a:p>
                <a:pPr lvl="0">
                  <a:buFont typeface="Arial" panose="020B0604020202020204" pitchFamily="34" charset="0"/>
                  <a:buChar char="•"/>
                </a:pPr>
                <a:r>
                  <a:rPr lang="en-US"/>
                  <a:t> Followers obtain the current swarm size (n) from the blockchain</a:t>
                </a:r>
                <a:endParaRPr lang="en-US"/>
              </a:p>
              <a:p>
                <a:pPr lvl="0"/>
                <a:r>
                  <a:rPr lang="en-US"/>
                  <a:t> Formation parameters are dynamically updated according to leader commands</a:t>
                </a:r>
                <a:endParaRPr lang="en-US"/>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en-US"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p14:dur="500">
        <p:sndAc>
          <p:endSnd/>
        </p:sndAc>
      </p:transition>
    </mc:Choice>
    <mc:Fallback>
      <p:transition>
        <p:sndAc>
          <p:endSnd/>
        </p:sndAc>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258445"/>
            <a:ext cx="10515600" cy="907415"/>
          </a:xfrm>
        </p:spPr>
        <p:txBody>
          <a:bodyPr/>
          <a:p>
            <a:r>
              <a:rPr lang="en-US"/>
              <a:t>Cont...</a:t>
            </a:r>
            <a:endParaRPr lang="en-US"/>
          </a:p>
        </p:txBody>
      </p:sp>
      <p:pic>
        <p:nvPicPr>
          <p:cNvPr id="4" name="Content Placeholder 3" descr="Screenshot from 2026-02-05 14-56-12"/>
          <p:cNvPicPr>
            <a:picLocks noChangeAspect="1"/>
          </p:cNvPicPr>
          <p:nvPr>
            <p:ph idx="1"/>
          </p:nvPr>
        </p:nvPicPr>
        <p:blipFill>
          <a:blip r:embed="rId1"/>
          <a:stretch>
            <a:fillRect/>
          </a:stretch>
        </p:blipFill>
        <p:spPr>
          <a:xfrm>
            <a:off x="1167765" y="1049020"/>
            <a:ext cx="9855835" cy="58089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sndAc>
          <p:endSnd/>
        </p:sndAc>
      </p:transition>
    </mc:Choice>
    <mc:Fallback>
      <p:transition>
        <p:sndAc>
          <p:endSnd/>
        </p:sndAc>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Cont...</a:t>
            </a:r>
            <a:endParaRPr lang="en-US"/>
          </a:p>
        </p:txBody>
      </p:sp>
      <p:pic>
        <p:nvPicPr>
          <p:cNvPr id="4" name="Content Placeholder 3" descr="Screenshot from 2026-02-05 14-58-14"/>
          <p:cNvPicPr>
            <a:picLocks noChangeAspect="1"/>
          </p:cNvPicPr>
          <p:nvPr>
            <p:ph idx="1"/>
          </p:nvPr>
        </p:nvPicPr>
        <p:blipFill>
          <a:blip r:embed="rId1"/>
          <a:stretch>
            <a:fillRect/>
          </a:stretch>
        </p:blipFill>
        <p:spPr>
          <a:xfrm>
            <a:off x="647700" y="1263650"/>
            <a:ext cx="10548620" cy="50850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sndAc>
          <p:endSnd/>
        </p:sndAc>
      </p:transition>
    </mc:Choice>
    <mc:Fallback>
      <p:transition>
        <p:sndAc>
          <p:endSnd/>
        </p:sndAc>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Haversine vs </a:t>
            </a:r>
            <a:r>
              <a:rPr lang="en-US">
                <a:sym typeface="+mn-ea"/>
              </a:rPr>
              <a:t>Euclidean  </a:t>
            </a:r>
            <a:endParaRPr lang="en-US"/>
          </a:p>
        </p:txBody>
      </p:sp>
      <p:sp>
        <p:nvSpPr>
          <p:cNvPr id="3" name="Content Placeholder 2"/>
          <p:cNvSpPr>
            <a:spLocks noGrp="1"/>
          </p:cNvSpPr>
          <p:nvPr>
            <p:ph idx="1"/>
          </p:nvPr>
        </p:nvSpPr>
        <p:spPr>
          <a:xfrm>
            <a:off x="647700" y="1825625"/>
            <a:ext cx="10833100" cy="4351655"/>
          </a:xfrm>
        </p:spPr>
        <p:txBody>
          <a:bodyPr/>
          <a:p>
            <a:pPr>
              <a:lnSpc>
                <a:spcPct val="100000"/>
              </a:lnSpc>
            </a:pPr>
            <a:r>
              <a:rPr lang="en-US"/>
              <a:t>The Haversine formula calculates distance between two GPS coordinates on the curved surface of the Earth. </a:t>
            </a:r>
            <a:endParaRPr lang="en-US"/>
          </a:p>
          <a:p>
            <a:pPr>
              <a:lnSpc>
                <a:spcPct val="100000"/>
              </a:lnSpc>
            </a:pPr>
            <a:r>
              <a:rPr lang="en-US"/>
              <a:t>The Euclidean distance is the normal straight-line distance of two drones in a flat coordinate system (x, y, z).</a:t>
            </a:r>
            <a:endParaRPr lang="en-US"/>
          </a:p>
        </p:txBody>
      </p:sp>
    </p:spTree>
  </p:cSld>
  <p:clrMapOvr>
    <a:masterClrMapping/>
  </p:clrMapOvr>
  <mc:AlternateContent xmlns:mc="http://schemas.openxmlformats.org/markup-compatibility/2006">
    <mc:Choice xmlns:p14="http://schemas.microsoft.com/office/powerpoint/2010/main" Requires="p14">
      <p:transition p14:dur="500">
        <p:sndAc>
          <p:endSnd/>
        </p:sndAc>
      </p:transition>
    </mc:Choice>
    <mc:Fallback>
      <p:transition>
        <p:sndAc>
          <p:endSnd/>
        </p:sndAc>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7" name="Picture 6" descr="Screenshot from 2026-02-05 15-04-36"/>
          <p:cNvPicPr>
            <a:picLocks noChangeAspect="1"/>
          </p:cNvPicPr>
          <p:nvPr/>
        </p:nvPicPr>
        <p:blipFill>
          <a:blip r:embed="rId1"/>
          <a:stretch>
            <a:fillRect/>
          </a:stretch>
        </p:blipFill>
        <p:spPr>
          <a:xfrm>
            <a:off x="1307465" y="104140"/>
            <a:ext cx="8773795" cy="4540250"/>
          </a:xfrm>
          <a:prstGeom prst="rect">
            <a:avLst/>
          </a:prstGeom>
        </p:spPr>
      </p:pic>
      <p:sp>
        <p:nvSpPr>
          <p:cNvPr id="9" name="Content Placeholder 8"/>
          <p:cNvSpPr/>
          <p:nvPr>
            <p:ph idx="1"/>
          </p:nvPr>
        </p:nvSpPr>
        <p:spPr/>
        <p:txBody>
          <a:bodyPr/>
          <a:p>
            <a:endParaRPr lang="en-US"/>
          </a:p>
        </p:txBody>
      </p:sp>
      <p:pic>
        <p:nvPicPr>
          <p:cNvPr id="10" name="Picture 9" descr="Screenshot from 2026-02-05 15-06-01"/>
          <p:cNvPicPr>
            <a:picLocks noChangeAspect="1"/>
          </p:cNvPicPr>
          <p:nvPr/>
        </p:nvPicPr>
        <p:blipFill>
          <a:blip r:embed="rId2"/>
          <a:stretch>
            <a:fillRect/>
          </a:stretch>
        </p:blipFill>
        <p:spPr>
          <a:xfrm>
            <a:off x="1307465" y="4644390"/>
            <a:ext cx="8773795" cy="132016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sndAc>
          <p:endSnd/>
        </p:sndAc>
      </p:transition>
    </mc:Choice>
    <mc:Fallback>
      <p:transition>
        <p:sndAc>
          <p:endSnd/>
        </p:sndAc>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Conclusion</a:t>
            </a:r>
            <a:endParaRPr lang="en-US"/>
          </a:p>
        </p:txBody>
      </p:sp>
      <p:sp>
        <p:nvSpPr>
          <p:cNvPr id="3" name="Content Placeholder 2"/>
          <p:cNvSpPr>
            <a:spLocks noGrp="1"/>
          </p:cNvSpPr>
          <p:nvPr>
            <p:ph idx="1"/>
          </p:nvPr>
        </p:nvSpPr>
        <p:spPr>
          <a:xfrm>
            <a:off x="647700" y="1475105"/>
            <a:ext cx="10515600" cy="4702175"/>
          </a:xfrm>
        </p:spPr>
        <p:txBody>
          <a:bodyPr>
            <a:normAutofit lnSpcReduction="10000"/>
          </a:bodyPr>
          <a:p>
            <a:pPr>
              <a:lnSpc>
                <a:spcPct val="100000"/>
              </a:lnSpc>
            </a:pPr>
            <a:r>
              <a:rPr lang="en-US"/>
              <a:t>Introduced secure and intelligent swarm coordination mechanisms</a:t>
            </a:r>
            <a:endParaRPr lang="en-US"/>
          </a:p>
          <a:p>
            <a:pPr>
              <a:lnSpc>
                <a:spcPct val="100000"/>
              </a:lnSpc>
            </a:pPr>
            <a:r>
              <a:rPr lang="en-US"/>
              <a:t>Demonstrated improved reliability, scalability, and adaptability</a:t>
            </a:r>
            <a:endParaRPr lang="en-US"/>
          </a:p>
          <a:p>
            <a:pPr>
              <a:lnSpc>
                <a:spcPct val="100000"/>
              </a:lnSpc>
            </a:pPr>
            <a:r>
              <a:rPr lang="en-US"/>
              <a:t>Provides a new technical perspective for secure UAV swarm control</a:t>
            </a:r>
            <a:endParaRPr lang="en-US"/>
          </a:p>
          <a:p>
            <a:pPr>
              <a:lnSpc>
                <a:spcPct val="100000"/>
              </a:lnSpc>
            </a:pPr>
            <a:r>
              <a:rPr lang="en-US">
                <a:sym typeface="+mn-ea"/>
              </a:rPr>
              <a:t>Applicable to military reconnaissance, emergency response, and logistics delivery</a:t>
            </a:r>
            <a:endParaRPr lang="en-US"/>
          </a:p>
          <a:p>
            <a:pPr>
              <a:lnSpc>
                <a:spcPct val="100000"/>
              </a:lnSpc>
            </a:pPr>
            <a:r>
              <a:rPr lang="en-US"/>
              <a:t>Future work:</a:t>
            </a:r>
            <a:endParaRPr lang="en-US"/>
          </a:p>
          <a:p>
            <a:pPr lvl="1">
              <a:lnSpc>
                <a:spcPct val="100000"/>
              </a:lnSpc>
              <a:buFont typeface="Abyssinica SIL" panose="02000000000000000000" charset="0"/>
              <a:buChar char="*"/>
            </a:pPr>
            <a:r>
              <a:rPr lang="en-US"/>
              <a:t>Optimize system modules</a:t>
            </a:r>
            <a:endParaRPr lang="en-US"/>
          </a:p>
          <a:p>
            <a:pPr lvl="1">
              <a:lnSpc>
                <a:spcPct val="100000"/>
              </a:lnSpc>
              <a:buFont typeface="Abyssinica SIL" panose="02000000000000000000" charset="0"/>
              <a:buChar char="*"/>
            </a:pPr>
            <a:r>
              <a:rPr lang="en-US"/>
              <a:t>Enhance adaptability and scalability</a:t>
            </a:r>
            <a:endParaRPr lang="en-US"/>
          </a:p>
          <a:p>
            <a:pPr>
              <a:lnSpc>
                <a:spcPct val="100000"/>
              </a:lnSpc>
            </a:pPr>
            <a:endParaRPr lang="en-US"/>
          </a:p>
        </p:txBody>
      </p:sp>
    </p:spTree>
  </p:cSld>
  <p:clrMapOvr>
    <a:masterClrMapping/>
  </p:clrMapOvr>
  <mc:AlternateContent xmlns:mc="http://schemas.openxmlformats.org/markup-compatibility/2006">
    <mc:Choice xmlns:p14="http://schemas.microsoft.com/office/powerpoint/2010/main" Requires="p14">
      <p:transition p14:dur="500">
        <p:sndAc>
          <p:endSnd/>
        </p:sndAc>
      </p:transition>
    </mc:Choice>
    <mc:Fallback>
      <p:transition>
        <p:sndAc>
          <p:endSnd/>
        </p:sndAc>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lgn="ctr">
              <a:buNone/>
            </a:pPr>
            <a:endParaRPr lang="en-US" sz="6600">
              <a:ln w="22225">
                <a:solidFill>
                  <a:schemeClr val="accent2"/>
                </a:solidFill>
                <a:prstDash val="solid"/>
              </a:ln>
              <a:solidFill>
                <a:schemeClr val="bg2"/>
              </a:solidFill>
              <a:effectLst/>
            </a:endParaRPr>
          </a:p>
          <a:p>
            <a:pPr marL="0" indent="0" algn="ctr">
              <a:buNone/>
            </a:pPr>
            <a:r>
              <a:rPr lang="en-US" sz="8000">
                <a:ln w="22225">
                  <a:solidFill>
                    <a:schemeClr val="accent2"/>
                  </a:solidFill>
                  <a:prstDash val="solid"/>
                </a:ln>
                <a:solidFill>
                  <a:schemeClr val="bg2"/>
                </a:solidFill>
                <a:effectLst/>
              </a:rPr>
              <a:t>Thank you</a:t>
            </a:r>
            <a:r>
              <a:rPr lang="en-US" sz="3600"/>
              <a:t> </a:t>
            </a:r>
            <a:endParaRPr lang="en-US" sz="3600"/>
          </a:p>
        </p:txBody>
      </p:sp>
    </p:spTree>
  </p:cSld>
  <p:clrMapOvr>
    <a:masterClrMapping/>
  </p:clrMapOvr>
  <mc:AlternateContent xmlns:mc="http://schemas.openxmlformats.org/markup-compatibility/2006">
    <mc:Choice xmlns:p14="http://schemas.microsoft.com/office/powerpoint/2010/main" Requires="p14">
      <p:transition p14:dur="500">
        <p:sndAc>
          <p:endSnd/>
        </p:sndAc>
      </p:transition>
    </mc:Choice>
    <mc:Fallback>
      <p:transition>
        <p:sndAc>
          <p:endSnd/>
        </p:sndAc>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宋体"/>
        <a:font script="Hant" typeface="新細明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宋体"/>
        <a:font script="Hant" typeface="新細明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4180</Words>
  <Application>WPS Presentation</Application>
  <PresentationFormat>宽屏</PresentationFormat>
  <Paragraphs>109</Paragraphs>
  <Slides>17</Slides>
  <Notes>0</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17</vt:i4>
      </vt:variant>
    </vt:vector>
  </HeadingPairs>
  <TitlesOfParts>
    <vt:vector size="34" baseType="lpstr">
      <vt:lpstr>Arial</vt:lpstr>
      <vt:lpstr>SimSun</vt:lpstr>
      <vt:lpstr>Wingdings</vt:lpstr>
      <vt:lpstr>Times New Roman</vt:lpstr>
      <vt:lpstr>Arial Black</vt:lpstr>
      <vt:lpstr>Microsoft YaHei</vt:lpstr>
      <vt:lpstr>Droid Sans Fallback</vt:lpstr>
      <vt:lpstr>Arial Unicode MS</vt:lpstr>
      <vt:lpstr>SimSun</vt:lpstr>
      <vt:lpstr>DejaVu Math TeX Gyre</vt:lpstr>
      <vt:lpstr>OpenSymbol</vt:lpstr>
      <vt:lpstr>SimSun</vt:lpstr>
      <vt:lpstr>Wingdings</vt:lpstr>
      <vt:lpstr>Gubbi</vt:lpstr>
      <vt:lpstr>Abyssinica SIL</vt:lpstr>
      <vt:lpstr>Office Theme</vt:lpstr>
      <vt:lpstr>Custom Design</vt:lpstr>
      <vt:lpstr>PowerPoint 演示文稿</vt:lpstr>
      <vt:lpstr>PowerPoint 演示文稿</vt:lpstr>
      <vt:lpstr>Outline</vt:lpstr>
      <vt:lpstr>Introduction</vt:lpstr>
      <vt:lpstr>Motivation of This Work</vt:lpstr>
      <vt:lpstr>Proposed Method</vt:lpstr>
      <vt:lpstr>Cont..</vt:lpstr>
      <vt:lpstr>Model Architecture</vt:lpstr>
      <vt:lpstr>Smart Contracts for Drone Swarms</vt:lpstr>
      <vt:lpstr>Leader and Follower Mechanism</vt:lpstr>
      <vt:lpstr>Dynamic Formation Control Concept</vt:lpstr>
      <vt:lpstr>Cont...</vt:lpstr>
      <vt:lpstr>Cont...</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yenus</cp:lastModifiedBy>
  <cp:revision>28</cp:revision>
  <dcterms:created xsi:type="dcterms:W3CDTF">2026-02-05T14:43:40Z</dcterms:created>
  <dcterms:modified xsi:type="dcterms:W3CDTF">2026-02-05T14:43:40Z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1033-11.1.0.11723</vt:lpwstr>
  </property>
  <property fmtid="{D5CDD505-2E9C-101B-9397-08002B2CF9AE}" pid="3" name="ICV">
    <vt:lpwstr/>
  </property>
</Properties>
</file>