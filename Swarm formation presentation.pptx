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60" r:id="rId5"/>
    <p:sldId id="258" r:id="rId6"/>
    <p:sldId id="265" r:id="rId7"/>
    <p:sldId id="259" r:id="rId8"/>
    <p:sldId id="268" r:id="rId9"/>
    <p:sldId id="264" r:id="rId10"/>
    <p:sldId id="262" r:id="rId11"/>
    <p:sldId id="272" r:id="rId12"/>
    <p:sldId id="266" r:id="rId13"/>
    <p:sldId id="267" r:id="rId14"/>
    <p:sldId id="279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/>
            </a:br>
            <a:br>
              <a:rPr lang="zh-CN" altLang="en-US"/>
            </a:br>
            <a:r>
              <a:rPr lang="en-US" altLang="zh-CN"/>
              <a:t>Title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4000" b="1" i="1">
                <a:latin typeface="Times New Roman" panose="02020603050405020304" charset="0"/>
                <a:cs typeface="Times New Roman" panose="02020603050405020304" charset="0"/>
              </a:rPr>
              <a:t>Drone Swarm Formations</a:t>
            </a:r>
            <a:endParaRPr lang="en-US" altLang="zh-CN" sz="40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>
                <a:latin typeface="Times New Roman" panose="02020603050405020304" charset="0"/>
                <a:cs typeface="Times New Roman" panose="02020603050405020304" charset="0"/>
              </a:rPr>
              <a:t>Overview</a:t>
            </a:r>
            <a:endParaRPr 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p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Problem: Formation flight in dense environments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Goal: Maintain formation </a:t>
            </a:r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 </a:t>
            </a:r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avoid obstacles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Contributions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95" y="1743075"/>
            <a:ext cx="12078970" cy="4784725"/>
          </a:xfrm>
        </p:spPr>
        <p:txBody>
          <a:bodyPr>
            <a:normAutofit lnSpcReduction="10000"/>
          </a:bodyPr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 novel differentiable formation, Based on: Graph Laplacians, Measures overall formation shape, Invariant to rotation</a:t>
            </a: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...</a:t>
            </a:r>
            <a:endParaRPr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 distributed optimization framework that includes: Formation similarity, Obstacle avoidance, Reciprocal collision avoidance, Dynamic feasibility</a:t>
            </a:r>
            <a:endParaRPr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Extensive real-world and simulated experiments: Swarm of 7 drones in hexagon formation, Tetrahedron formation in narrow corridor</a:t>
            </a: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with 4 drones</a:t>
            </a: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and</a:t>
            </a: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heart-shaped formation simulation</a:t>
            </a: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with 10 drones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Formation Modeling</a:t>
            </a:r>
            <a:br>
              <a:rPr sz="32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Drones</a:t>
            </a:r>
            <a:r>
              <a:rPr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as nodes in a graph</a:t>
            </a:r>
            <a:endParaRPr sz="3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Edges</a:t>
            </a:r>
            <a:r>
              <a:rPr lang="en-US"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/link</a:t>
            </a:r>
            <a:r>
              <a:rPr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store inter-drone distances</a:t>
            </a:r>
            <a:endParaRPr sz="3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Complete weighted graph</a:t>
            </a:r>
            <a:endParaRPr sz="3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Node 1 ——5m—— Node 2</a:t>
            </a:r>
            <a:endParaRPr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Node 1 ——8m—— Node 3</a:t>
            </a:r>
            <a:endParaRPr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Node 2 ——3m—— Node 3</a:t>
            </a:r>
            <a:endParaRPr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Common </a:t>
            </a:r>
            <a:r>
              <a:rPr lang="en-US">
                <a:sym typeface="+mn-ea"/>
              </a:rPr>
              <a:t>methods: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Fully Connected Graph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Neighbor-Based Graph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Formation-Based (Connect drones based on the desired formation pattern)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This Metric is New</a:t>
            </a:r>
            <a:endParaRPr 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1308100"/>
            <a:ext cx="12033250" cy="5235575"/>
          </a:xfrm>
        </p:spPr>
        <p:txBody>
          <a:bodyPr/>
          <a:p>
            <a:endParaRPr lang="en-US" sz="3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Captures overall formation shape</a:t>
            </a:r>
            <a:endParaRPr sz="3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Differentiable → used in optimization</a:t>
            </a:r>
            <a:endParaRPr sz="3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sz="3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Allows shape deformation safely</a:t>
            </a:r>
            <a:endParaRPr sz="3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>
              <a:buFont typeface="东文宋体" charset="0"/>
              <a:buChar char="◆"/>
            </a:pPr>
            <a: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Hexagon formation</a:t>
            </a:r>
            <a:endParaRPr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>
              <a:buFont typeface="东文宋体" charset="0"/>
              <a:buChar char="◆"/>
            </a:pPr>
            <a:r>
              <a:rPr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Tetrahedron formation through corridor</a:t>
            </a:r>
            <a: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(</a:t>
            </a:r>
            <a:r>
              <a:rPr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ormation rotates + compresses adaptively</a:t>
            </a:r>
            <a: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>
              <a:buFont typeface="东文宋体" charset="0"/>
              <a:buChar char="◆"/>
            </a:pPr>
            <a:r>
              <a:rPr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Heart-shaped 10-drone formation</a:t>
            </a:r>
            <a:endParaRPr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东文宋体" charset="0"/>
              <a:buChar char="◆"/>
            </a:pPr>
            <a:endParaRPr 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Map + ESDF(Euclidean Signed Distance Field)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Voxel map library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 ESDF allows the optimizer to compute: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distance to nearest obstacle</a:t>
            </a:r>
            <a:endParaRPr 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gradients for obstacle penalty</a:t>
            </a:r>
            <a:endParaRPr 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Minimum Control Effort Polynomial Trajectories</a:t>
            </a:r>
            <a:endParaRPr 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MINCO is a framework for generating smooth, feasible trajectories for drones.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Position → where you are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Velocity → how fast you're moving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Acceleration → how fast your speed is changing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Jerk → how fast your acceleration is changing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Minimizes multiple cost terms:</a:t>
            </a:r>
            <a:endParaRPr 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Control effort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Timing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Obstacle avoidance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Formation similarity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Reciprocal collision avoidance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Dynamic feasibility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◎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Uniform constraint distribution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from 2025-12-10 14-08-07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170" y="2480945"/>
            <a:ext cx="7699375" cy="3183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Formation Similarity</a:t>
            </a:r>
            <a:endParaRPr lang="en-US" sz="3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Uses the graph Laplacian metric 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Measures how far the current formation is from the target shape.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Penalizes drones if the shape breaks 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Cont...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015" y="1758950"/>
            <a:ext cx="11944350" cy="5270500"/>
          </a:xfrm>
        </p:spPr>
        <p:txBody>
          <a:bodyPr>
            <a:noAutofit/>
          </a:bodyPr>
          <a:p>
            <a:pPr>
              <a:buFont typeface="东文宋体" charset="0"/>
              <a:buChar char="▲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Reciprocal Collision Avoidance(ensures that drones avoid hitting each other)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▲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RVO (Reciprocal Velocity Obstacles)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▲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Predict future positions, detect if their velocity vectors will cause a crash, and compute a safe velocity region 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▲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Minimum separation constraints 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▲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∥pi​−pj​∥≥dmin​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▲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Collision cones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东文宋体" charset="0"/>
              <a:buChar char="▲"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Mathematical method to predict if two drones will collide in the future based on current motion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Drone Swarms in Military </a:t>
            </a:r>
            <a:br>
              <a:rPr 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</a:br>
            <a:endParaRPr 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Can quickly map an entire battlefield area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Extending radio range for friendly forces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Border monitoring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• Wide-area surveillance 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Low-cost and reduce risk to human soldiers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Spread out to avoid being easily detected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• Confuse or overload enemy sensors </a:t>
            </a:r>
            <a:endParaRPr lang="en-US" sz="28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2580</Words>
  <Application>WPS Presentation</Application>
  <PresentationFormat>宽屏</PresentationFormat>
  <Paragraphs>93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Arial Black</vt:lpstr>
      <vt:lpstr>Microsoft YaHei</vt:lpstr>
      <vt:lpstr>Droid Sans Fallback</vt:lpstr>
      <vt:lpstr>Arial Unicode MS</vt:lpstr>
      <vt:lpstr>SimSun</vt:lpstr>
      <vt:lpstr>Wingdings</vt:lpstr>
      <vt:lpstr>Gubbi</vt:lpstr>
      <vt:lpstr>OpenSymbol</vt:lpstr>
      <vt:lpstr>C059</vt:lpstr>
      <vt:lpstr>Abyssinica SIL</vt:lpstr>
      <vt:lpstr>东文宋体</vt:lpstr>
      <vt:lpstr>FreeMono</vt:lpstr>
      <vt:lpstr>Office Theme</vt:lpstr>
      <vt:lpstr>  Title </vt:lpstr>
      <vt:lpstr>Overview</vt:lpstr>
      <vt:lpstr>Contribution</vt:lpstr>
      <vt:lpstr>Formation Modeling </vt:lpstr>
      <vt:lpstr>Common methods:</vt:lpstr>
      <vt:lpstr>Why This Metric is New</vt:lpstr>
      <vt:lpstr>Map + ESDF(Euclidean Signed Distance Field)</vt:lpstr>
      <vt:lpstr>PowerPoint 演示文稿</vt:lpstr>
      <vt:lpstr>Minimizes multiple cost terms:</vt:lpstr>
      <vt:lpstr>PowerPoint 演示文稿</vt:lpstr>
      <vt:lpstr>Formation Similarity</vt:lpstr>
      <vt:lpstr>Cont...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yenus</cp:lastModifiedBy>
  <cp:revision>30</cp:revision>
  <dcterms:created xsi:type="dcterms:W3CDTF">2025-12-12T12:13:15Z</dcterms:created>
  <dcterms:modified xsi:type="dcterms:W3CDTF">2025-12-12T12:13:15Z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