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7" r:id="rId3"/>
    <p:sldId id="258" r:id="rId5"/>
    <p:sldId id="274" r:id="rId6"/>
    <p:sldId id="259" r:id="rId7"/>
    <p:sldId id="284" r:id="rId8"/>
    <p:sldId id="262" r:id="rId9"/>
    <p:sldId id="267" r:id="rId10"/>
    <p:sldId id="261" r:id="rId11"/>
    <p:sldId id="266" r:id="rId12"/>
    <p:sldId id="272" r:id="rId13"/>
    <p:sldId id="291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7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endParaRPr 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Drone Swarm</a:t>
            </a:r>
            <a:endParaRPr 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643255"/>
            <a:ext cx="10515600" cy="1325563"/>
          </a:xfrm>
        </p:spPr>
        <p:txBody>
          <a:bodyPr/>
          <a:p>
            <a:r>
              <a:rPr lang="en-US" sz="32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Outline</a:t>
            </a:r>
            <a:endParaRPr lang="en-US" sz="32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2127885"/>
            <a:ext cx="10515600" cy="4351338"/>
          </a:xfrm>
        </p:spPr>
        <p:txBody>
          <a:bodyPr/>
          <a:p>
            <a:pPr>
              <a:buFont typeface="东文宋体" charset="0"/>
              <a:buChar char="■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Introduction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东文宋体" charset="0"/>
              <a:buChar char="■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Requirements for Drone Swarm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■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Core Algorithms Used in ZJU-Fast Swarm Formation paper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东文宋体" charset="0"/>
              <a:buChar char="■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Main Goal of the Paper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东文宋体" charset="0"/>
              <a:buChar char="■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Drone Swarms in Military 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东文宋体" charset="0"/>
              <a:buChar char="■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Conclusion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东文宋体" charset="0"/>
              <a:buChar char="■"/>
            </a:pP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■"/>
            </a:pP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sz="32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10000"/>
              </a:lnSpc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Drone swarms are groups of autonomous unmanned aerial vehicles that cooperate to achieve a common objective.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Swarm intelligence enables drones to coordinate their motion and decisions through local communication and distributed control.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Collective behavior allows the swarm to adapt to dynamic environments and continue operating despite individual drone failures.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Drone swarms are widely used in applications such as surveillance, search...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Requirements for Drone Swarm</a:t>
            </a:r>
            <a:endParaRPr lang="en-US" sz="32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lnSpc>
                <a:spcPct val="30000"/>
              </a:lnSpc>
              <a:buFont typeface="东文宋体" charset="0"/>
              <a:buNone/>
            </a:pP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30000"/>
              </a:lnSpc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Communication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30000"/>
              </a:lnSpc>
              <a:buFont typeface="东文宋体" charset="0"/>
              <a:buNone/>
            </a:pP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30000"/>
              </a:lnSpc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Control Algorithms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30000"/>
              </a:lnSpc>
              <a:buFont typeface="东文宋体" charset="0"/>
              <a:buChar char="◆"/>
            </a:pP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30000"/>
              </a:lnSpc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Sensing &amp; perception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30000"/>
              </a:lnSpc>
              <a:buFont typeface="东文宋体" charset="0"/>
              <a:buChar char="◆"/>
            </a:pP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30000"/>
              </a:lnSpc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Safety &amp; collision avoidance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30000"/>
              </a:lnSpc>
              <a:buFont typeface="东文宋体" charset="0"/>
              <a:buChar char="◆"/>
            </a:pP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30000"/>
              </a:lnSpc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Scalability &amp; robustness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30000"/>
              </a:lnSpc>
              <a:buFont typeface="东文宋体" charset="0"/>
              <a:buChar char="◆"/>
            </a:pP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ln/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Control Algorithms</a:t>
            </a:r>
            <a:endParaRPr lang="en-US" sz="3200">
              <a:ln/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00000"/>
              </a:lnSpc>
              <a:buFont typeface="东文宋体" charset="0"/>
              <a:buChar char="◆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Consensus-Based Control</a:t>
            </a: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Leader–Follower Control</a:t>
            </a: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Virtual Structure Control</a:t>
            </a: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Behavior-Based Control</a:t>
            </a: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Cluster-Based Control</a:t>
            </a: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东文宋体" charset="0"/>
              <a:buChar char="◆"/>
            </a:pP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690" y="258445"/>
            <a:ext cx="10849610" cy="1325880"/>
          </a:xfrm>
        </p:spPr>
        <p:txBody>
          <a:bodyPr>
            <a:noAutofit/>
          </a:bodyPr>
          <a:p>
            <a:r>
              <a:rPr lang="en-US" sz="32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Main Techniques</a:t>
            </a:r>
            <a:r>
              <a:rPr lang="en-US" sz="32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Used in ZJU-Fast Swarm Formation paper</a:t>
            </a:r>
            <a:br>
              <a:rPr lang="en-US" sz="32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</a:br>
            <a:endParaRPr lang="en-US" sz="32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825625"/>
            <a:ext cx="11245850" cy="5032375"/>
          </a:xfrm>
        </p:spPr>
        <p:txBody>
          <a:bodyPr/>
          <a:p>
            <a:pPr>
              <a:lnSpc>
                <a:spcPct val="100000"/>
              </a:lnSpc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The graph Laplacian is used to represent the connectivity between drones in a swarm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The differentiable Laplacian-based formation similarity metric is used to maintain the swarm formation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Optimization-based trajectory planning uses polynomial trajectories (MINCO) to generate smooth and feasible paths for drones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effectLst/>
                <a:latin typeface="Times New Roman" panose="02020603050405020304" charset="0"/>
                <a:cs typeface="Times New Roman" panose="02020603050405020304" charset="0"/>
              </a:rPr>
              <a:t>Cont...</a:t>
            </a:r>
            <a:endParaRPr lang="en-US" sz="320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583690"/>
            <a:ext cx="11017250" cy="4593590"/>
          </a:xfrm>
        </p:spPr>
        <p:txBody>
          <a:bodyPr/>
          <a:p>
            <a:pPr>
              <a:lnSpc>
                <a:spcPct val="100000"/>
              </a:lnSpc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Obstacle Avoidance: Uses a map (voxel map library) and Euclidean Signed Distance Field (ESDF) to ensure collision-free motion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00000"/>
              </a:lnSpc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Swarm Reciprocal Collision Avoidance: Prevents collisions between drones in the swarm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00000"/>
              </a:lnSpc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Distributed Planning Architecture: Each drone plans its trajectory locally while coordinating with neighbors to achieve global swarm objectives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00000"/>
              </a:lnSpc>
              <a:buFont typeface="东文宋体" charset="0"/>
              <a:buChar char="◆"/>
            </a:pP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Main Goal of the Paper</a:t>
            </a:r>
            <a:endParaRPr lang="en-US" sz="32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Enable drone swarms to fly in a desired formation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Avoid obstacles in dense environments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Balance formation preservation and collision avoidance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Operate in a distributed (decentralized) manner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◆"/>
            </a:pPr>
            <a:r>
              <a:rPr lang="en-US" sz="28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Optimize trajectories for smoothness and dynamic feasibility</a:t>
            </a:r>
            <a:endParaRPr lang="en-US" sz="28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sz="3200">
                <a:ln/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Drone Swarms in Military </a:t>
            </a:r>
            <a:endParaRPr lang="en-US" sz="3200">
              <a:ln/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东文宋体" charset="0"/>
              <a:buChar char="◆"/>
            </a:pPr>
            <a:r>
              <a:rPr lang="en-US" sz="32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Cluster-Based Swarm forming</a:t>
            </a:r>
            <a:endParaRPr lang="en-US" sz="32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2"/>
            <a:r>
              <a:rPr lang="en-US" sz="256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Intra-cluster</a:t>
            </a:r>
            <a:endParaRPr lang="en-US" sz="256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2"/>
            <a:r>
              <a:rPr lang="en-US" sz="256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Inter-cluster</a:t>
            </a:r>
            <a:endParaRPr lang="en-US" sz="256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东文宋体" charset="0"/>
              <a:buChar char="◆"/>
            </a:pPr>
            <a:r>
              <a:rPr lang="en-US" sz="32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Task allocation </a:t>
            </a:r>
            <a:endParaRPr lang="en-US" sz="32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Confuse enemy sensors 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Can quickly map an entire battlefield area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Extending radio range for friendly forces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Surveillance 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Low-cost and reduce risk to human soldiers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2">
              <a:buFont typeface="Arial" panose="020B0604020202020204" pitchFamily="34" charset="0"/>
              <a:buChar char="•"/>
            </a:pP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◆"/>
            </a:pP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Drone swarms offer powerful solutions for complex tasks through coordinated and collaboration.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Effective communication, sensing, and control are core to swarm intelligence and safety.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Robustness and scalability ensure reliable operation in dynamic and uncertain environments.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Efficient mission planning and energy management maximize performance and endurance.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◆"/>
            </a:pP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Secure and safe coordination is essential for real-world deployment and trustworthiness.</a:t>
            </a:r>
            <a:endParaRPr lang="en-US" sz="240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endParaRPr lang="en-US" sz="480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sz="480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480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 sz="480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2634</Words>
  <Application>WPS Presentation</Application>
  <PresentationFormat>宽屏</PresentationFormat>
  <Paragraphs>89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东文宋体</vt:lpstr>
      <vt:lpstr>Droid Sans Fallback</vt:lpstr>
      <vt:lpstr>Microsoft YaHei</vt:lpstr>
      <vt:lpstr>Arial Unicode MS</vt:lpstr>
      <vt:lpstr>Arial Black</vt:lpstr>
      <vt:lpstr>SimSun</vt:lpstr>
      <vt:lpstr>OpenSymbol</vt:lpstr>
      <vt:lpstr>Office Theme</vt:lpstr>
      <vt:lpstr>PowerPoint 演示文稿</vt:lpstr>
      <vt:lpstr>Outline</vt:lpstr>
      <vt:lpstr>Introduction</vt:lpstr>
      <vt:lpstr>Requirements for Drone Swarm</vt:lpstr>
      <vt:lpstr>Control Algorithm</vt:lpstr>
      <vt:lpstr>Main Techniques Used in ZJU-Fast Swarm Formation paper </vt:lpstr>
      <vt:lpstr>Cont...</vt:lpstr>
      <vt:lpstr>Main Goal of the Paper</vt:lpstr>
      <vt:lpstr>How We Can Use Drone Swarms in Military  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yenus</cp:lastModifiedBy>
  <cp:revision>47</cp:revision>
  <dcterms:created xsi:type="dcterms:W3CDTF">2025-12-24T12:37:45Z</dcterms:created>
  <dcterms:modified xsi:type="dcterms:W3CDTF">2025-12-24T12:37:45Z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